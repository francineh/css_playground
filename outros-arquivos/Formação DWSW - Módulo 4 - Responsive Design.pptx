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91" r:id="rId4"/>
    <p:sldId id="292" r:id="rId5"/>
    <p:sldId id="293" r:id="rId6"/>
    <p:sldId id="294" r:id="rId7"/>
    <p:sldId id="295" r:id="rId8"/>
    <p:sldId id="29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15" autoAdjust="0"/>
    <p:restoredTop sz="94660"/>
  </p:normalViewPr>
  <p:slideViewPr>
    <p:cSldViewPr snapToGrid="0">
      <p:cViewPr varScale="1">
        <p:scale>
          <a:sx n="88" d="100"/>
          <a:sy n="88" d="100"/>
        </p:scale>
        <p:origin x="94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A20C6-2E00-47A1-874C-C89FCECA2D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B6EDAE-6492-40C3-BAD8-D9D0A93F8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D2CF8-F279-4CE4-852E-12B90A18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DCC9-254A-4B2D-B47D-7DF35D83F39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A1F43-0269-443A-931E-22EE4D41B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33980-70F2-43E7-8722-76342FE3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FF9E3-06C7-48F2-A239-14493278E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11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8D5B7-1692-487B-AC18-282ACD33A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22E90-5B22-4CB7-A404-57505E97E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CF758-19C1-45A4-8EE0-C4BA460F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DCC9-254A-4B2D-B47D-7DF35D83F39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3A61C-85B5-497E-AEBF-973DF1BFF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FF608-7B3B-49FC-A0A7-7DE603B6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FF9E3-06C7-48F2-A239-14493278E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53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11AD7-AB49-4C5D-9F64-E15EC29C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2B244-DADF-4D48-99D9-6BE41B6B3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BE458-1A3A-48E2-B6BB-9189C798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DCC9-254A-4B2D-B47D-7DF35D83F39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A79C9-7D12-4870-AA5A-0B9B5FBEE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4244C-BEAC-4771-BC15-790C13AF3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FF9E3-06C7-48F2-A239-14493278E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41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0829A-E924-44B0-9168-DE7ED7F51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1A6B0-2537-4C9D-B451-8003E047B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2F3E3-819A-4EC1-8B76-7003A5519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79EF5-469D-4C51-A765-F986007F7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DCC9-254A-4B2D-B47D-7DF35D83F39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24513-6566-4EC2-AD87-EC812A67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0BFB9-C3CE-43C5-B553-0C9022E5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FF9E3-06C7-48F2-A239-14493278E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7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43C2-305B-4AFD-A03C-4B4722C8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1995C-51CC-49FB-8B5C-792EC6AC9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50E86-D9C8-4BE7-8501-ADDFD6973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731097-E277-410C-8A55-4BA7FDA55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8D1924-1625-44BA-9A9D-0A3ACEFC42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E7E4DC-EBE2-4B1B-9D1C-B276A2DE8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DCC9-254A-4B2D-B47D-7DF35D83F39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5619E4-438B-4F5C-A1A7-D193D9914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87FB4C-F4DD-4114-B5D0-DA8A8F78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FF9E3-06C7-48F2-A239-14493278E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9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28DED-5756-4AB7-8048-1A0724BED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88BE40-D08D-47CC-8D3F-1EE1D3A33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DCC9-254A-4B2D-B47D-7DF35D83F39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44320-7023-4515-B7FF-2E1A90982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4B323-B9C1-4A48-B3B8-9E7DA8FCE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FF9E3-06C7-48F2-A239-14493278E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0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C647C2-8DA1-414C-9094-33191176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DCC9-254A-4B2D-B47D-7DF35D83F39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9034B1-6D5C-473D-BEDF-3A58C1F7E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6FCDD-CC07-4901-9537-C46562193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FF9E3-06C7-48F2-A239-14493278E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24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EB8D8-1103-46BD-9A98-2118CAEEF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F552A-FAA4-4FCB-B35C-C29C3F61A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229B6-A95C-4D01-B618-098073CC4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1A835-E91E-4954-A0B6-F7A10BA0A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DCC9-254A-4B2D-B47D-7DF35D83F39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57420-BAEA-4F24-885A-D8917833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ECAF1-DF82-4785-B982-F84AE87EB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FF9E3-06C7-48F2-A239-14493278E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8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3CAD-9E5D-4E8D-A34D-216220D46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27784D-5B86-4A20-844C-C54F330AFE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75BC7-58E5-4315-87D3-856F2C214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BA39A-311E-47DD-9FAC-12C7FC6C2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DCC9-254A-4B2D-B47D-7DF35D83F39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835B2-1A9A-47E2-8281-CDEA9BE10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EF29B-A1D2-4143-93F9-7718B545A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FF9E3-06C7-48F2-A239-14493278E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4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89218-10D2-44EE-B600-4A5DFCD23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31BD4-2749-4E2F-AA76-52708B3AE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56C6B-2300-4428-BEB5-3C59ADEE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DCC9-254A-4B2D-B47D-7DF35D83F39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72D2E-164C-437E-9C8C-DF917E7D1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8FD5A-2470-4E46-88E9-0C5126513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FF9E3-06C7-48F2-A239-14493278E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41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9F3F5-88FF-425F-AAC5-CF84D99D3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4E54C-7387-4E5A-B8D0-8B400D722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DCB43-02C5-4CBD-B917-7325BDC87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DCC9-254A-4B2D-B47D-7DF35D83F39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5FCE2-29E7-4279-9776-1A5AB0C3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428DD-908F-46D3-8EF3-640FD31C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FF9E3-06C7-48F2-A239-14493278E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7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A2BFF-E8DE-4084-B0D4-7B2A49A64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54FF8-491C-4408-8C9F-74C3F35E5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BD667-5B6B-413F-BD2C-59074EE38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6DCC9-254A-4B2D-B47D-7DF35D83F394}" type="datetimeFigureOut">
              <a:rPr lang="en-US" smtClean="0"/>
              <a:t>6/12/2021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A42FD-C35D-40A2-9472-C5685B7E5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B14F3-5ED7-4692-8EB5-52B898F61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FF9E3-06C7-48F2-A239-14493278E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77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16D9E3-F685-42FE-B7A5-C7BD9A4BE038}"/>
              </a:ext>
            </a:extLst>
          </p:cNvPr>
          <p:cNvSpPr txBox="1"/>
          <p:nvPr/>
        </p:nvSpPr>
        <p:spPr>
          <a:xfrm>
            <a:off x="1884752" y="1366897"/>
            <a:ext cx="842249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latin typeface="Montserrat SemiBold" panose="00000700000000000000" pitchFamily="50" charset="0"/>
              </a:rPr>
              <a:t>FORMAÇÃO DESENVOLVIMENTO WEB</a:t>
            </a:r>
          </a:p>
          <a:p>
            <a:pPr algn="ctr"/>
            <a:r>
              <a:rPr lang="pt-BR" sz="3200" dirty="0">
                <a:latin typeface="Montserrat SemiBold" panose="00000700000000000000" pitchFamily="50" charset="0"/>
              </a:rPr>
              <a:t>SMALL WINS</a:t>
            </a:r>
          </a:p>
          <a:p>
            <a:pPr algn="ctr"/>
            <a:endParaRPr lang="pt-BR" sz="3200" dirty="0">
              <a:latin typeface="Montserrat SemiBold" panose="00000700000000000000" pitchFamily="50" charset="0"/>
            </a:endParaRPr>
          </a:p>
          <a:p>
            <a:pPr algn="ctr"/>
            <a:r>
              <a:rPr lang="en-US" sz="3200" dirty="0">
                <a:latin typeface="Montserrat SemiBold" panose="00000700000000000000" pitchFamily="50" charset="0"/>
              </a:rPr>
              <a:t>MÓDULO 4 – </a:t>
            </a:r>
            <a:r>
              <a:rPr lang="en-US" sz="3200" dirty="0" err="1">
                <a:latin typeface="Montserrat SemiBold" panose="00000700000000000000" pitchFamily="50" charset="0"/>
              </a:rPr>
              <a:t>Aprendendo</a:t>
            </a:r>
            <a:r>
              <a:rPr lang="en-US" sz="3200" dirty="0">
                <a:latin typeface="Montserrat SemiBold" panose="00000700000000000000" pitchFamily="50" charset="0"/>
              </a:rPr>
              <a:t> CSS</a:t>
            </a:r>
          </a:p>
        </p:txBody>
      </p:sp>
      <p:pic>
        <p:nvPicPr>
          <p:cNvPr id="18" name="Picture 17" descr="Logo&#10;&#10;Description automatically generated with medium confidence">
            <a:extLst>
              <a:ext uri="{FF2B5EF4-FFF2-40B4-BE49-F238E27FC236}">
                <a16:creationId xmlns:a16="http://schemas.microsoft.com/office/drawing/2014/main" id="{776AC80D-7809-40B3-917B-35699E547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945" y="5499069"/>
            <a:ext cx="1876037" cy="187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24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61EA0C-2A6F-48CF-B04C-F5DEBC058D6D}"/>
              </a:ext>
            </a:extLst>
          </p:cNvPr>
          <p:cNvSpPr txBox="1"/>
          <p:nvPr/>
        </p:nvSpPr>
        <p:spPr>
          <a:xfrm>
            <a:off x="3733079" y="319480"/>
            <a:ext cx="4725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RESPONSIVE DESIGN</a:t>
            </a:r>
            <a:endParaRPr lang="en-US" sz="32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  <p:pic>
        <p:nvPicPr>
          <p:cNvPr id="41" name="Picture 40" descr="Logo&#10;&#10;Description automatically generated with medium confidence">
            <a:extLst>
              <a:ext uri="{FF2B5EF4-FFF2-40B4-BE49-F238E27FC236}">
                <a16:creationId xmlns:a16="http://schemas.microsoft.com/office/drawing/2014/main" id="{A4E0BA83-6C6A-43E4-87DF-617F865E6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28" y="5540415"/>
            <a:ext cx="1876037" cy="1875099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A09BCEC-196F-4AD5-9BAA-4114E5721206}"/>
              </a:ext>
            </a:extLst>
          </p:cNvPr>
          <p:cNvSpPr/>
          <p:nvPr/>
        </p:nvSpPr>
        <p:spPr>
          <a:xfrm>
            <a:off x="2304534" y="1428400"/>
            <a:ext cx="7330499" cy="33278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15">
            <a:extLst>
              <a:ext uri="{FF2B5EF4-FFF2-40B4-BE49-F238E27FC236}">
                <a16:creationId xmlns:a16="http://schemas.microsoft.com/office/drawing/2014/main" id="{E0454F02-70EC-7943-AF58-F235D4DD985F}"/>
              </a:ext>
            </a:extLst>
          </p:cNvPr>
          <p:cNvSpPr/>
          <p:nvPr/>
        </p:nvSpPr>
        <p:spPr>
          <a:xfrm>
            <a:off x="4879514" y="1611904"/>
            <a:ext cx="2212622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Montserrat SemiBold" panose="00000700000000000000" pitchFamily="50" charset="0"/>
              </a:rPr>
              <a:t>RESPONSIVE DESIGN</a:t>
            </a:r>
          </a:p>
        </p:txBody>
      </p:sp>
      <p:sp>
        <p:nvSpPr>
          <p:cNvPr id="12" name="Rectangle: Rounded Corners 15">
            <a:extLst>
              <a:ext uri="{FF2B5EF4-FFF2-40B4-BE49-F238E27FC236}">
                <a16:creationId xmlns:a16="http://schemas.microsoft.com/office/drawing/2014/main" id="{BE4F58CE-3E37-4AB9-A597-0CFB2E352DD3}"/>
              </a:ext>
            </a:extLst>
          </p:cNvPr>
          <p:cNvSpPr/>
          <p:nvPr/>
        </p:nvSpPr>
        <p:spPr>
          <a:xfrm>
            <a:off x="2860685" y="3181404"/>
            <a:ext cx="1786574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IMAGENS QUE SE ADAPTAM AO TAMANHO DA TELA</a:t>
            </a:r>
          </a:p>
        </p:txBody>
      </p:sp>
      <p:sp>
        <p:nvSpPr>
          <p:cNvPr id="14" name="Rectangle: Rounded Corners 15">
            <a:extLst>
              <a:ext uri="{FF2B5EF4-FFF2-40B4-BE49-F238E27FC236}">
                <a16:creationId xmlns:a16="http://schemas.microsoft.com/office/drawing/2014/main" id="{665B2174-050B-4C27-BC5D-B72F4604201D}"/>
              </a:ext>
            </a:extLst>
          </p:cNvPr>
          <p:cNvSpPr/>
          <p:nvPr/>
        </p:nvSpPr>
        <p:spPr>
          <a:xfrm>
            <a:off x="5056374" y="3181403"/>
            <a:ext cx="1786574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Montserrat SemiBold" panose="00000700000000000000" pitchFamily="50" charset="0"/>
              </a:rPr>
              <a:t>MEDIA QUERIES</a:t>
            </a:r>
          </a:p>
        </p:txBody>
      </p:sp>
      <p:sp>
        <p:nvSpPr>
          <p:cNvPr id="15" name="Rectangle: Rounded Corners 15">
            <a:extLst>
              <a:ext uri="{FF2B5EF4-FFF2-40B4-BE49-F238E27FC236}">
                <a16:creationId xmlns:a16="http://schemas.microsoft.com/office/drawing/2014/main" id="{9E585C43-8A4D-46CE-9480-8760DC79C5C4}"/>
              </a:ext>
            </a:extLst>
          </p:cNvPr>
          <p:cNvSpPr/>
          <p:nvPr/>
        </p:nvSpPr>
        <p:spPr>
          <a:xfrm>
            <a:off x="7285929" y="3181403"/>
            <a:ext cx="1786574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LAYOUT BASEADO EM GRID FLUIDO</a:t>
            </a:r>
          </a:p>
        </p:txBody>
      </p:sp>
    </p:spTree>
    <p:extLst>
      <p:ext uri="{BB962C8B-B14F-4D97-AF65-F5344CB8AC3E}">
        <p14:creationId xmlns:p14="http://schemas.microsoft.com/office/powerpoint/2010/main" val="2408235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61EA0C-2A6F-48CF-B04C-F5DEBC058D6D}"/>
              </a:ext>
            </a:extLst>
          </p:cNvPr>
          <p:cNvSpPr txBox="1"/>
          <p:nvPr/>
        </p:nvSpPr>
        <p:spPr>
          <a:xfrm>
            <a:off x="3566375" y="319480"/>
            <a:ext cx="50593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Porque usar arquivos e</a:t>
            </a:r>
            <a:endParaRPr lang="en-US" sz="32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  <p:pic>
        <p:nvPicPr>
          <p:cNvPr id="41" name="Picture 40" descr="Logo&#10;&#10;Description automatically generated with medium confidence">
            <a:extLst>
              <a:ext uri="{FF2B5EF4-FFF2-40B4-BE49-F238E27FC236}">
                <a16:creationId xmlns:a16="http://schemas.microsoft.com/office/drawing/2014/main" id="{A4E0BA83-6C6A-43E4-87DF-617F865E6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28" y="5540415"/>
            <a:ext cx="1876037" cy="1875099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A09BCEC-196F-4AD5-9BAA-4114E5721206}"/>
              </a:ext>
            </a:extLst>
          </p:cNvPr>
          <p:cNvSpPr/>
          <p:nvPr/>
        </p:nvSpPr>
        <p:spPr>
          <a:xfrm>
            <a:off x="857955" y="1423053"/>
            <a:ext cx="9576741" cy="4371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5">
            <a:extLst>
              <a:ext uri="{FF2B5EF4-FFF2-40B4-BE49-F238E27FC236}">
                <a16:creationId xmlns:a16="http://schemas.microsoft.com/office/drawing/2014/main" id="{BE4F58CE-3E37-4AB9-A597-0CFB2E352DD3}"/>
              </a:ext>
            </a:extLst>
          </p:cNvPr>
          <p:cNvSpPr/>
          <p:nvPr/>
        </p:nvSpPr>
        <p:spPr>
          <a:xfrm>
            <a:off x="1291529" y="1713849"/>
            <a:ext cx="1786574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Montserrat SemiBold" panose="00000700000000000000" pitchFamily="50" charset="0"/>
              </a:rPr>
              <a:t>RESIZABLE IMAGES</a:t>
            </a:r>
          </a:p>
        </p:txBody>
      </p:sp>
      <p:sp>
        <p:nvSpPr>
          <p:cNvPr id="14" name="Rectangle: Rounded Corners 15">
            <a:extLst>
              <a:ext uri="{FF2B5EF4-FFF2-40B4-BE49-F238E27FC236}">
                <a16:creationId xmlns:a16="http://schemas.microsoft.com/office/drawing/2014/main" id="{665B2174-050B-4C27-BC5D-B72F4604201D}"/>
              </a:ext>
            </a:extLst>
          </p:cNvPr>
          <p:cNvSpPr/>
          <p:nvPr/>
        </p:nvSpPr>
        <p:spPr>
          <a:xfrm>
            <a:off x="1291529" y="2975784"/>
            <a:ext cx="1786574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Montserrat SemiBold" panose="00000700000000000000" pitchFamily="50" charset="0"/>
              </a:rPr>
              <a:t>MEDIA QUERIES</a:t>
            </a:r>
          </a:p>
        </p:txBody>
      </p:sp>
      <p:sp>
        <p:nvSpPr>
          <p:cNvPr id="15" name="Rectangle: Rounded Corners 15">
            <a:extLst>
              <a:ext uri="{FF2B5EF4-FFF2-40B4-BE49-F238E27FC236}">
                <a16:creationId xmlns:a16="http://schemas.microsoft.com/office/drawing/2014/main" id="{9E585C43-8A4D-46CE-9480-8760DC79C5C4}"/>
              </a:ext>
            </a:extLst>
          </p:cNvPr>
          <p:cNvSpPr/>
          <p:nvPr/>
        </p:nvSpPr>
        <p:spPr>
          <a:xfrm>
            <a:off x="1291529" y="4400491"/>
            <a:ext cx="1786574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FLUID GRID BASED LAYOUT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575B19-9D29-4EF3-84BE-A25B3F26493D}"/>
              </a:ext>
            </a:extLst>
          </p:cNvPr>
          <p:cNvSpPr txBox="1"/>
          <p:nvPr/>
        </p:nvSpPr>
        <p:spPr>
          <a:xfrm>
            <a:off x="3154947" y="1606294"/>
            <a:ext cx="70777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img {</a:t>
            </a:r>
            <a:b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</a:br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max-width: 100%;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height: auto;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}</a:t>
            </a:r>
            <a:endParaRPr lang="en-US" sz="1600" dirty="0">
              <a:solidFill>
                <a:schemeClr val="accent2"/>
              </a:solidFill>
              <a:latin typeface="Montserrat SemiBold" panose="00000700000000000000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40AD41-F471-4FC3-A498-AB00B3640459}"/>
              </a:ext>
            </a:extLst>
          </p:cNvPr>
          <p:cNvSpPr txBox="1"/>
          <p:nvPr/>
        </p:nvSpPr>
        <p:spPr>
          <a:xfrm>
            <a:off x="3078103" y="2866753"/>
            <a:ext cx="57379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Montserrat SemiBold" panose="00000700000000000000" pitchFamily="50" charset="0"/>
              </a:rPr>
              <a:t>@media only screen and (max-width: 600px) </a:t>
            </a:r>
            <a:r>
              <a:rPr lang="en-US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{</a:t>
            </a:r>
            <a:br>
              <a:rPr lang="en-US" dirty="0">
                <a:solidFill>
                  <a:schemeClr val="accent2"/>
                </a:solidFill>
                <a:latin typeface="Montserrat SemiBold" panose="00000700000000000000" pitchFamily="50" charset="0"/>
              </a:rPr>
            </a:br>
            <a:r>
              <a:rPr lang="en-US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body {</a:t>
            </a:r>
          </a:p>
          <a:p>
            <a:r>
              <a:rPr lang="en-US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background-color: red;</a:t>
            </a:r>
          </a:p>
          <a:p>
            <a:r>
              <a:rPr lang="en-US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}</a:t>
            </a:r>
          </a:p>
          <a:p>
            <a:r>
              <a:rPr lang="en-US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B27732-D96D-4910-B394-2C47A0CC2D58}"/>
              </a:ext>
            </a:extLst>
          </p:cNvPr>
          <p:cNvSpPr txBox="1"/>
          <p:nvPr/>
        </p:nvSpPr>
        <p:spPr>
          <a:xfrm>
            <a:off x="3111970" y="4668779"/>
            <a:ext cx="7288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DEPENDE DA TÉCNICA UTILIZADA</a:t>
            </a:r>
            <a:endParaRPr lang="en-US" dirty="0">
              <a:solidFill>
                <a:schemeClr val="accent2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533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61EA0C-2A6F-48CF-B04C-F5DEBC058D6D}"/>
              </a:ext>
            </a:extLst>
          </p:cNvPr>
          <p:cNvSpPr txBox="1"/>
          <p:nvPr/>
        </p:nvSpPr>
        <p:spPr>
          <a:xfrm>
            <a:off x="3733079" y="319480"/>
            <a:ext cx="4725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RESPONSIVE DESIGN</a:t>
            </a:r>
            <a:endParaRPr lang="en-US" sz="32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  <p:pic>
        <p:nvPicPr>
          <p:cNvPr id="41" name="Picture 40" descr="Logo&#10;&#10;Description automatically generated with medium confidence">
            <a:extLst>
              <a:ext uri="{FF2B5EF4-FFF2-40B4-BE49-F238E27FC236}">
                <a16:creationId xmlns:a16="http://schemas.microsoft.com/office/drawing/2014/main" id="{A4E0BA83-6C6A-43E4-87DF-617F865E6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28" y="5540415"/>
            <a:ext cx="1876037" cy="1875099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A09BCEC-196F-4AD5-9BAA-4114E5721206}"/>
              </a:ext>
            </a:extLst>
          </p:cNvPr>
          <p:cNvSpPr/>
          <p:nvPr/>
        </p:nvSpPr>
        <p:spPr>
          <a:xfrm>
            <a:off x="2304534" y="1428400"/>
            <a:ext cx="7330499" cy="33278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15">
            <a:extLst>
              <a:ext uri="{FF2B5EF4-FFF2-40B4-BE49-F238E27FC236}">
                <a16:creationId xmlns:a16="http://schemas.microsoft.com/office/drawing/2014/main" id="{E0454F02-70EC-7943-AF58-F235D4DD985F}"/>
              </a:ext>
            </a:extLst>
          </p:cNvPr>
          <p:cNvSpPr/>
          <p:nvPr/>
        </p:nvSpPr>
        <p:spPr>
          <a:xfrm>
            <a:off x="4879514" y="1611904"/>
            <a:ext cx="2212622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Montserrat SemiBold" panose="00000700000000000000" pitchFamily="50" charset="0"/>
              </a:rPr>
              <a:t>LAYOUT BASEADO EM GRID FLUIDO</a:t>
            </a:r>
          </a:p>
        </p:txBody>
      </p:sp>
      <p:sp>
        <p:nvSpPr>
          <p:cNvPr id="12" name="Rectangle: Rounded Corners 15">
            <a:extLst>
              <a:ext uri="{FF2B5EF4-FFF2-40B4-BE49-F238E27FC236}">
                <a16:creationId xmlns:a16="http://schemas.microsoft.com/office/drawing/2014/main" id="{BE4F58CE-3E37-4AB9-A597-0CFB2E352DD3}"/>
              </a:ext>
            </a:extLst>
          </p:cNvPr>
          <p:cNvSpPr/>
          <p:nvPr/>
        </p:nvSpPr>
        <p:spPr>
          <a:xfrm>
            <a:off x="2860685" y="3181404"/>
            <a:ext cx="1786574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FLOAT</a:t>
            </a:r>
          </a:p>
        </p:txBody>
      </p:sp>
      <p:sp>
        <p:nvSpPr>
          <p:cNvPr id="14" name="Rectangle: Rounded Corners 15">
            <a:extLst>
              <a:ext uri="{FF2B5EF4-FFF2-40B4-BE49-F238E27FC236}">
                <a16:creationId xmlns:a16="http://schemas.microsoft.com/office/drawing/2014/main" id="{665B2174-050B-4C27-BC5D-B72F4604201D}"/>
              </a:ext>
            </a:extLst>
          </p:cNvPr>
          <p:cNvSpPr/>
          <p:nvPr/>
        </p:nvSpPr>
        <p:spPr>
          <a:xfrm>
            <a:off x="5056374" y="3181403"/>
            <a:ext cx="1786574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Montserrat SemiBold" panose="00000700000000000000" pitchFamily="50" charset="0"/>
              </a:rPr>
              <a:t>FLEXBOX</a:t>
            </a:r>
          </a:p>
        </p:txBody>
      </p:sp>
      <p:sp>
        <p:nvSpPr>
          <p:cNvPr id="15" name="Rectangle: Rounded Corners 15">
            <a:extLst>
              <a:ext uri="{FF2B5EF4-FFF2-40B4-BE49-F238E27FC236}">
                <a16:creationId xmlns:a16="http://schemas.microsoft.com/office/drawing/2014/main" id="{9E585C43-8A4D-46CE-9480-8760DC79C5C4}"/>
              </a:ext>
            </a:extLst>
          </p:cNvPr>
          <p:cNvSpPr/>
          <p:nvPr/>
        </p:nvSpPr>
        <p:spPr>
          <a:xfrm>
            <a:off x="7285929" y="3181403"/>
            <a:ext cx="1786574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CSS GRID</a:t>
            </a:r>
          </a:p>
        </p:txBody>
      </p:sp>
    </p:spTree>
    <p:extLst>
      <p:ext uri="{BB962C8B-B14F-4D97-AF65-F5344CB8AC3E}">
        <p14:creationId xmlns:p14="http://schemas.microsoft.com/office/powerpoint/2010/main" val="1969314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61EA0C-2A6F-48CF-B04C-F5DEBC058D6D}"/>
              </a:ext>
            </a:extLst>
          </p:cNvPr>
          <p:cNvSpPr txBox="1"/>
          <p:nvPr/>
        </p:nvSpPr>
        <p:spPr>
          <a:xfrm>
            <a:off x="3733079" y="319480"/>
            <a:ext cx="4725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RESPONSIVE DESIGN</a:t>
            </a:r>
            <a:endParaRPr lang="en-US" sz="32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  <p:pic>
        <p:nvPicPr>
          <p:cNvPr id="41" name="Picture 40" descr="Logo&#10;&#10;Description automatically generated with medium confidence">
            <a:extLst>
              <a:ext uri="{FF2B5EF4-FFF2-40B4-BE49-F238E27FC236}">
                <a16:creationId xmlns:a16="http://schemas.microsoft.com/office/drawing/2014/main" id="{A4E0BA83-6C6A-43E4-87DF-617F865E6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28" y="5540415"/>
            <a:ext cx="1876037" cy="1875099"/>
          </a:xfrm>
          <a:prstGeom prst="rect">
            <a:avLst/>
          </a:prstGeom>
        </p:spPr>
      </p:pic>
      <p:pic>
        <p:nvPicPr>
          <p:cNvPr id="3" name="Picture 2" descr="Chart&#10;&#10;Description automatically generated with medium confidence">
            <a:extLst>
              <a:ext uri="{FF2B5EF4-FFF2-40B4-BE49-F238E27FC236}">
                <a16:creationId xmlns:a16="http://schemas.microsoft.com/office/drawing/2014/main" id="{A46E07BD-B1FE-4917-912F-7FEE76724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312" y="1019175"/>
            <a:ext cx="947737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88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61EA0C-2A6F-48CF-B04C-F5DEBC058D6D}"/>
              </a:ext>
            </a:extLst>
          </p:cNvPr>
          <p:cNvSpPr txBox="1"/>
          <p:nvPr/>
        </p:nvSpPr>
        <p:spPr>
          <a:xfrm>
            <a:off x="1803070" y="319480"/>
            <a:ext cx="85860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RESPONSIVE DESIGN – USANDO FLOAT</a:t>
            </a:r>
            <a:endParaRPr lang="en-US" sz="32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  <p:pic>
        <p:nvPicPr>
          <p:cNvPr id="41" name="Picture 40" descr="Logo&#10;&#10;Description automatically generated with medium confidence">
            <a:extLst>
              <a:ext uri="{FF2B5EF4-FFF2-40B4-BE49-F238E27FC236}">
                <a16:creationId xmlns:a16="http://schemas.microsoft.com/office/drawing/2014/main" id="{A4E0BA83-6C6A-43E4-87DF-617F865E6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28" y="5540415"/>
            <a:ext cx="1876037" cy="1875099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A09BCEC-196F-4AD5-9BAA-4114E5721206}"/>
              </a:ext>
            </a:extLst>
          </p:cNvPr>
          <p:cNvSpPr/>
          <p:nvPr/>
        </p:nvSpPr>
        <p:spPr>
          <a:xfrm>
            <a:off x="2304534" y="1428400"/>
            <a:ext cx="7330499" cy="2159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5">
            <a:extLst>
              <a:ext uri="{FF2B5EF4-FFF2-40B4-BE49-F238E27FC236}">
                <a16:creationId xmlns:a16="http://schemas.microsoft.com/office/drawing/2014/main" id="{BE4F58CE-3E37-4AB9-A597-0CFB2E352DD3}"/>
              </a:ext>
            </a:extLst>
          </p:cNvPr>
          <p:cNvSpPr/>
          <p:nvPr/>
        </p:nvSpPr>
        <p:spPr>
          <a:xfrm>
            <a:off x="2707270" y="2182490"/>
            <a:ext cx="1359633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cell / .col-1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D86175-36BD-4DCE-967C-CE50A0F995B7}"/>
              </a:ext>
            </a:extLst>
          </p:cNvPr>
          <p:cNvSpPr txBox="1"/>
          <p:nvPr/>
        </p:nvSpPr>
        <p:spPr>
          <a:xfrm>
            <a:off x="2616159" y="1620779"/>
            <a:ext cx="113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.row</a:t>
            </a:r>
            <a:endParaRPr lang="en-US" dirty="0">
              <a:solidFill>
                <a:schemeClr val="accent2"/>
              </a:solidFill>
              <a:latin typeface="Montserrat SemiBold" panose="00000700000000000000" pitchFamily="50" charset="0"/>
            </a:endParaRPr>
          </a:p>
        </p:txBody>
      </p:sp>
      <p:sp>
        <p:nvSpPr>
          <p:cNvPr id="10" name="Rectangle: Rounded Corners 15">
            <a:extLst>
              <a:ext uri="{FF2B5EF4-FFF2-40B4-BE49-F238E27FC236}">
                <a16:creationId xmlns:a16="http://schemas.microsoft.com/office/drawing/2014/main" id="{34F68EDC-756F-44A7-AEBD-13E9280CE29B}"/>
              </a:ext>
            </a:extLst>
          </p:cNvPr>
          <p:cNvSpPr/>
          <p:nvPr/>
        </p:nvSpPr>
        <p:spPr>
          <a:xfrm>
            <a:off x="4475449" y="2182490"/>
            <a:ext cx="1359633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cell / .col-1</a:t>
            </a:r>
          </a:p>
        </p:txBody>
      </p:sp>
      <p:sp>
        <p:nvSpPr>
          <p:cNvPr id="11" name="Rectangle: Rounded Corners 15">
            <a:extLst>
              <a:ext uri="{FF2B5EF4-FFF2-40B4-BE49-F238E27FC236}">
                <a16:creationId xmlns:a16="http://schemas.microsoft.com/office/drawing/2014/main" id="{06A1D37E-4298-4F49-A419-8CF5D7BD885D}"/>
              </a:ext>
            </a:extLst>
          </p:cNvPr>
          <p:cNvSpPr/>
          <p:nvPr/>
        </p:nvSpPr>
        <p:spPr>
          <a:xfrm>
            <a:off x="6243628" y="2179346"/>
            <a:ext cx="1359633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cell / .col-1</a:t>
            </a:r>
          </a:p>
        </p:txBody>
      </p:sp>
      <p:sp>
        <p:nvSpPr>
          <p:cNvPr id="13" name="Rectangle: Rounded Corners 15">
            <a:extLst>
              <a:ext uri="{FF2B5EF4-FFF2-40B4-BE49-F238E27FC236}">
                <a16:creationId xmlns:a16="http://schemas.microsoft.com/office/drawing/2014/main" id="{31ABB535-8462-494F-9BA3-1DB3304524DD}"/>
              </a:ext>
            </a:extLst>
          </p:cNvPr>
          <p:cNvSpPr/>
          <p:nvPr/>
        </p:nvSpPr>
        <p:spPr>
          <a:xfrm>
            <a:off x="8005997" y="2179346"/>
            <a:ext cx="1359633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cell / .col-1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63EE2D4-7860-4AFC-A9DB-3968D29CD11C}"/>
              </a:ext>
            </a:extLst>
          </p:cNvPr>
          <p:cNvSpPr/>
          <p:nvPr/>
        </p:nvSpPr>
        <p:spPr>
          <a:xfrm>
            <a:off x="1338091" y="3868086"/>
            <a:ext cx="3874256" cy="21595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AB64A3-F4C6-470C-A551-4B6D9D18ACDB}"/>
              </a:ext>
            </a:extLst>
          </p:cNvPr>
          <p:cNvSpPr txBox="1"/>
          <p:nvPr/>
        </p:nvSpPr>
        <p:spPr>
          <a:xfrm>
            <a:off x="1639230" y="4163021"/>
            <a:ext cx="32719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&lt;div class=“row”&gt;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 &lt;div class=“col-1”&gt;&lt;/div&gt;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 &lt;div class=“col-1”&gt;&lt;/div&gt;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 &lt;div class=“col-1”&gt;&lt;/div&gt;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 &lt;div class=“col-1”&gt;&lt;/div&gt;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&lt;/div&gt;</a:t>
            </a:r>
            <a:endParaRPr lang="en-US" sz="1600" dirty="0">
              <a:solidFill>
                <a:schemeClr val="accent2"/>
              </a:solidFill>
              <a:latin typeface="Montserrat SemiBold" panose="00000700000000000000" pitchFamily="50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DABFF0B-A605-48EC-9630-84D85E89F8DA}"/>
              </a:ext>
            </a:extLst>
          </p:cNvPr>
          <p:cNvSpPr/>
          <p:nvPr/>
        </p:nvSpPr>
        <p:spPr>
          <a:xfrm>
            <a:off x="5526135" y="3868086"/>
            <a:ext cx="2530182" cy="2159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65FF0C-636F-4668-8E39-97E3F6EA77AD}"/>
              </a:ext>
            </a:extLst>
          </p:cNvPr>
          <p:cNvSpPr txBox="1"/>
          <p:nvPr/>
        </p:nvSpPr>
        <p:spPr>
          <a:xfrm>
            <a:off x="5827275" y="4286131"/>
            <a:ext cx="20890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.row::after {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content:””;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display: table;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clear:both;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}</a:t>
            </a:r>
            <a:endParaRPr lang="en-US" sz="1600" dirty="0">
              <a:solidFill>
                <a:schemeClr val="accent2"/>
              </a:solidFill>
              <a:latin typeface="Montserrat SemiBold" panose="00000700000000000000" pitchFamily="50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B56E375-D2B0-463E-B120-71453C4B7335}"/>
              </a:ext>
            </a:extLst>
          </p:cNvPr>
          <p:cNvSpPr/>
          <p:nvPr/>
        </p:nvSpPr>
        <p:spPr>
          <a:xfrm>
            <a:off x="8459053" y="3836201"/>
            <a:ext cx="2618460" cy="2159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F2B19-FF2E-4828-8553-42FF37A7CE17}"/>
              </a:ext>
            </a:extLst>
          </p:cNvPr>
          <p:cNvSpPr txBox="1"/>
          <p:nvPr/>
        </p:nvSpPr>
        <p:spPr>
          <a:xfrm>
            <a:off x="8760192" y="4254246"/>
            <a:ext cx="22327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.col-1 {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float: left;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margin-left: 4%;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width: 20%;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}</a:t>
            </a:r>
            <a:endParaRPr lang="en-US" sz="1600" dirty="0">
              <a:solidFill>
                <a:schemeClr val="accent2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06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61EA0C-2A6F-48CF-B04C-F5DEBC058D6D}"/>
              </a:ext>
            </a:extLst>
          </p:cNvPr>
          <p:cNvSpPr txBox="1"/>
          <p:nvPr/>
        </p:nvSpPr>
        <p:spPr>
          <a:xfrm>
            <a:off x="1803070" y="319480"/>
            <a:ext cx="85860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RESPONSIVE DESIGN – USANDO FLOAT</a:t>
            </a:r>
            <a:endParaRPr lang="en-US" sz="32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  <p:pic>
        <p:nvPicPr>
          <p:cNvPr id="41" name="Picture 40" descr="Logo&#10;&#10;Description automatically generated with medium confidence">
            <a:extLst>
              <a:ext uri="{FF2B5EF4-FFF2-40B4-BE49-F238E27FC236}">
                <a16:creationId xmlns:a16="http://schemas.microsoft.com/office/drawing/2014/main" id="{A4E0BA83-6C6A-43E4-87DF-617F865E6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28" y="5540415"/>
            <a:ext cx="1876037" cy="1875099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A09BCEC-196F-4AD5-9BAA-4114E5721206}"/>
              </a:ext>
            </a:extLst>
          </p:cNvPr>
          <p:cNvSpPr/>
          <p:nvPr/>
        </p:nvSpPr>
        <p:spPr>
          <a:xfrm>
            <a:off x="1320466" y="1463234"/>
            <a:ext cx="4000472" cy="34048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5">
            <a:extLst>
              <a:ext uri="{FF2B5EF4-FFF2-40B4-BE49-F238E27FC236}">
                <a16:creationId xmlns:a16="http://schemas.microsoft.com/office/drawing/2014/main" id="{BE4F58CE-3E37-4AB9-A597-0CFB2E352DD3}"/>
              </a:ext>
            </a:extLst>
          </p:cNvPr>
          <p:cNvSpPr/>
          <p:nvPr/>
        </p:nvSpPr>
        <p:spPr>
          <a:xfrm>
            <a:off x="1723201" y="2217324"/>
            <a:ext cx="1359633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cell / .col-1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D86175-36BD-4DCE-967C-CE50A0F995B7}"/>
              </a:ext>
            </a:extLst>
          </p:cNvPr>
          <p:cNvSpPr txBox="1"/>
          <p:nvPr/>
        </p:nvSpPr>
        <p:spPr>
          <a:xfrm>
            <a:off x="1632090" y="1655613"/>
            <a:ext cx="113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.row</a:t>
            </a:r>
            <a:endParaRPr lang="en-US" dirty="0">
              <a:solidFill>
                <a:schemeClr val="accent2"/>
              </a:solidFill>
              <a:latin typeface="Montserrat SemiBold" panose="00000700000000000000" pitchFamily="50" charset="0"/>
            </a:endParaRPr>
          </a:p>
        </p:txBody>
      </p:sp>
      <p:sp>
        <p:nvSpPr>
          <p:cNvPr id="10" name="Rectangle: Rounded Corners 15">
            <a:extLst>
              <a:ext uri="{FF2B5EF4-FFF2-40B4-BE49-F238E27FC236}">
                <a16:creationId xmlns:a16="http://schemas.microsoft.com/office/drawing/2014/main" id="{34F68EDC-756F-44A7-AEBD-13E9280CE29B}"/>
              </a:ext>
            </a:extLst>
          </p:cNvPr>
          <p:cNvSpPr/>
          <p:nvPr/>
        </p:nvSpPr>
        <p:spPr>
          <a:xfrm>
            <a:off x="3491380" y="2217324"/>
            <a:ext cx="1359633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cell / .col-1</a:t>
            </a:r>
          </a:p>
        </p:txBody>
      </p:sp>
      <p:sp>
        <p:nvSpPr>
          <p:cNvPr id="11" name="Rectangle: Rounded Corners 15">
            <a:extLst>
              <a:ext uri="{FF2B5EF4-FFF2-40B4-BE49-F238E27FC236}">
                <a16:creationId xmlns:a16="http://schemas.microsoft.com/office/drawing/2014/main" id="{06A1D37E-4298-4F49-A419-8CF5D7BD885D}"/>
              </a:ext>
            </a:extLst>
          </p:cNvPr>
          <p:cNvSpPr/>
          <p:nvPr/>
        </p:nvSpPr>
        <p:spPr>
          <a:xfrm>
            <a:off x="1723201" y="3463834"/>
            <a:ext cx="1359633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cell / .col-1</a:t>
            </a:r>
          </a:p>
        </p:txBody>
      </p:sp>
      <p:sp>
        <p:nvSpPr>
          <p:cNvPr id="13" name="Rectangle: Rounded Corners 15">
            <a:extLst>
              <a:ext uri="{FF2B5EF4-FFF2-40B4-BE49-F238E27FC236}">
                <a16:creationId xmlns:a16="http://schemas.microsoft.com/office/drawing/2014/main" id="{31ABB535-8462-494F-9BA3-1DB3304524DD}"/>
              </a:ext>
            </a:extLst>
          </p:cNvPr>
          <p:cNvSpPr/>
          <p:nvPr/>
        </p:nvSpPr>
        <p:spPr>
          <a:xfrm>
            <a:off x="3484939" y="3424529"/>
            <a:ext cx="1359633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cell / .col-1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B56E375-D2B0-463E-B120-71453C4B7335}"/>
              </a:ext>
            </a:extLst>
          </p:cNvPr>
          <p:cNvSpPr/>
          <p:nvPr/>
        </p:nvSpPr>
        <p:spPr>
          <a:xfrm>
            <a:off x="5826034" y="1358730"/>
            <a:ext cx="5869577" cy="35093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F2B19-FF2E-4828-8553-42FF37A7CE17}"/>
              </a:ext>
            </a:extLst>
          </p:cNvPr>
          <p:cNvSpPr txBox="1"/>
          <p:nvPr/>
        </p:nvSpPr>
        <p:spPr>
          <a:xfrm>
            <a:off x="6200985" y="1820793"/>
            <a:ext cx="52072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600" dirty="0">
              <a:solidFill>
                <a:schemeClr val="accent2"/>
              </a:solidFill>
              <a:latin typeface="Montserrat SemiBold" panose="00000700000000000000" pitchFamily="50" charset="0"/>
            </a:endParaRP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@media only screen and (min-width: 480px)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                                  and (max-width: 767px) </a:t>
            </a:r>
            <a:b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</a:br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{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.col-1 {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       width: 44%;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}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}</a:t>
            </a:r>
            <a:endParaRPr lang="en-US" sz="1600" dirty="0">
              <a:solidFill>
                <a:schemeClr val="accent2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12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61EA0C-2A6F-48CF-B04C-F5DEBC058D6D}"/>
              </a:ext>
            </a:extLst>
          </p:cNvPr>
          <p:cNvSpPr txBox="1"/>
          <p:nvPr/>
        </p:nvSpPr>
        <p:spPr>
          <a:xfrm>
            <a:off x="1803070" y="319480"/>
            <a:ext cx="85860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RESPONSIVE DESIGN – USANDO FLOAT</a:t>
            </a:r>
            <a:endParaRPr lang="en-US" sz="32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  <p:pic>
        <p:nvPicPr>
          <p:cNvPr id="41" name="Picture 40" descr="Logo&#10;&#10;Description automatically generated with medium confidence">
            <a:extLst>
              <a:ext uri="{FF2B5EF4-FFF2-40B4-BE49-F238E27FC236}">
                <a16:creationId xmlns:a16="http://schemas.microsoft.com/office/drawing/2014/main" id="{A4E0BA83-6C6A-43E4-87DF-617F865E6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928" y="5540415"/>
            <a:ext cx="1876037" cy="1875099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A09BCEC-196F-4AD5-9BAA-4114E5721206}"/>
              </a:ext>
            </a:extLst>
          </p:cNvPr>
          <p:cNvSpPr/>
          <p:nvPr/>
        </p:nvSpPr>
        <p:spPr>
          <a:xfrm>
            <a:off x="1320466" y="1018904"/>
            <a:ext cx="2232631" cy="55821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5">
            <a:extLst>
              <a:ext uri="{FF2B5EF4-FFF2-40B4-BE49-F238E27FC236}">
                <a16:creationId xmlns:a16="http://schemas.microsoft.com/office/drawing/2014/main" id="{BE4F58CE-3E37-4AB9-A597-0CFB2E352DD3}"/>
              </a:ext>
            </a:extLst>
          </p:cNvPr>
          <p:cNvSpPr/>
          <p:nvPr/>
        </p:nvSpPr>
        <p:spPr>
          <a:xfrm>
            <a:off x="1723201" y="1788415"/>
            <a:ext cx="1359633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cell / .col-1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D86175-36BD-4DCE-967C-CE50A0F995B7}"/>
              </a:ext>
            </a:extLst>
          </p:cNvPr>
          <p:cNvSpPr txBox="1"/>
          <p:nvPr/>
        </p:nvSpPr>
        <p:spPr>
          <a:xfrm>
            <a:off x="1649508" y="1248782"/>
            <a:ext cx="113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.row</a:t>
            </a:r>
            <a:endParaRPr lang="en-US" dirty="0">
              <a:solidFill>
                <a:schemeClr val="accent2"/>
              </a:solidFill>
              <a:latin typeface="Montserrat SemiBold" panose="00000700000000000000" pitchFamily="50" charset="0"/>
            </a:endParaRPr>
          </a:p>
        </p:txBody>
      </p:sp>
      <p:sp>
        <p:nvSpPr>
          <p:cNvPr id="10" name="Rectangle: Rounded Corners 15">
            <a:extLst>
              <a:ext uri="{FF2B5EF4-FFF2-40B4-BE49-F238E27FC236}">
                <a16:creationId xmlns:a16="http://schemas.microsoft.com/office/drawing/2014/main" id="{34F68EDC-756F-44A7-AEBD-13E9280CE29B}"/>
              </a:ext>
            </a:extLst>
          </p:cNvPr>
          <p:cNvSpPr/>
          <p:nvPr/>
        </p:nvSpPr>
        <p:spPr>
          <a:xfrm>
            <a:off x="1723200" y="5307430"/>
            <a:ext cx="1359633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cell / .col-1</a:t>
            </a:r>
          </a:p>
        </p:txBody>
      </p:sp>
      <p:sp>
        <p:nvSpPr>
          <p:cNvPr id="11" name="Rectangle: Rounded Corners 15">
            <a:extLst>
              <a:ext uri="{FF2B5EF4-FFF2-40B4-BE49-F238E27FC236}">
                <a16:creationId xmlns:a16="http://schemas.microsoft.com/office/drawing/2014/main" id="{06A1D37E-4298-4F49-A419-8CF5D7BD885D}"/>
              </a:ext>
            </a:extLst>
          </p:cNvPr>
          <p:cNvSpPr/>
          <p:nvPr/>
        </p:nvSpPr>
        <p:spPr>
          <a:xfrm>
            <a:off x="1723201" y="2864625"/>
            <a:ext cx="1359633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cell / .col-1</a:t>
            </a:r>
          </a:p>
        </p:txBody>
      </p:sp>
      <p:sp>
        <p:nvSpPr>
          <p:cNvPr id="13" name="Rectangle: Rounded Corners 15">
            <a:extLst>
              <a:ext uri="{FF2B5EF4-FFF2-40B4-BE49-F238E27FC236}">
                <a16:creationId xmlns:a16="http://schemas.microsoft.com/office/drawing/2014/main" id="{31ABB535-8462-494F-9BA3-1DB3304524DD}"/>
              </a:ext>
            </a:extLst>
          </p:cNvPr>
          <p:cNvSpPr/>
          <p:nvPr/>
        </p:nvSpPr>
        <p:spPr>
          <a:xfrm>
            <a:off x="1723199" y="4086027"/>
            <a:ext cx="1359633" cy="905909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Montserrat SemiBold" panose="00000700000000000000" pitchFamily="50" charset="0"/>
              </a:rPr>
              <a:t>cell / .col-1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B56E375-D2B0-463E-B120-71453C4B7335}"/>
              </a:ext>
            </a:extLst>
          </p:cNvPr>
          <p:cNvSpPr/>
          <p:nvPr/>
        </p:nvSpPr>
        <p:spPr>
          <a:xfrm>
            <a:off x="4197531" y="1341313"/>
            <a:ext cx="5869577" cy="35093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F2B19-FF2E-4828-8553-42FF37A7CE17}"/>
              </a:ext>
            </a:extLst>
          </p:cNvPr>
          <p:cNvSpPr txBox="1"/>
          <p:nvPr/>
        </p:nvSpPr>
        <p:spPr>
          <a:xfrm>
            <a:off x="4572482" y="1803376"/>
            <a:ext cx="52072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600" dirty="0">
              <a:solidFill>
                <a:schemeClr val="accent2"/>
              </a:solidFill>
              <a:latin typeface="Montserrat SemiBold" panose="00000700000000000000" pitchFamily="50" charset="0"/>
            </a:endParaRP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@media only screen and (max-width: 479px) </a:t>
            </a:r>
            <a:b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</a:br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{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.col-1 {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       width: 98%;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       margin: 1%;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       </a:t>
            </a:r>
            <a:r>
              <a:rPr lang="pt-BR" sz="1600" dirty="0">
                <a:solidFill>
                  <a:schemeClr val="accent5"/>
                </a:solidFill>
                <a:latin typeface="Montserrat SemiBold" panose="00000700000000000000" pitchFamily="50" charset="0"/>
              </a:rPr>
              <a:t>float: none;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      }</a:t>
            </a:r>
          </a:p>
          <a:p>
            <a:r>
              <a:rPr lang="pt-BR" sz="1600" dirty="0">
                <a:solidFill>
                  <a:schemeClr val="accent2"/>
                </a:solidFill>
                <a:latin typeface="Montserrat SemiBold" panose="00000700000000000000" pitchFamily="50" charset="0"/>
              </a:rPr>
              <a:t>}</a:t>
            </a:r>
            <a:endParaRPr lang="en-US" sz="1600" dirty="0">
              <a:solidFill>
                <a:schemeClr val="accent2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666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41D49"/>
      </a:accent1>
      <a:accent2>
        <a:srgbClr val="F6EFF1"/>
      </a:accent2>
      <a:accent3>
        <a:srgbClr val="635B8D"/>
      </a:accent3>
      <a:accent4>
        <a:srgbClr val="28151C"/>
      </a:accent4>
      <a:accent5>
        <a:srgbClr val="A628EA"/>
      </a:accent5>
      <a:accent6>
        <a:srgbClr val="D7B5C6"/>
      </a:accent6>
      <a:hlink>
        <a:srgbClr val="02316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5144</TotalTime>
  <Words>312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Correa</dc:creator>
  <cp:lastModifiedBy>Douglas Correa</cp:lastModifiedBy>
  <cp:revision>118</cp:revision>
  <dcterms:created xsi:type="dcterms:W3CDTF">2021-04-12T13:38:31Z</dcterms:created>
  <dcterms:modified xsi:type="dcterms:W3CDTF">2021-06-12T17:15:58Z</dcterms:modified>
</cp:coreProperties>
</file>